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deepfer-facial-emotion-recognition-app.streamlit.app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A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548640"/>
            <a:ext cx="2377440" cy="2377440"/>
          </a:xfrm>
          <a:prstGeom prst="ellipse">
            <a:avLst/>
          </a:prstGeom>
          <a:solidFill>
            <a:srgbClr val="1C3F60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291840"/>
            <a:ext cx="1463040" cy="1463040"/>
          </a:xfrm>
          <a:prstGeom prst="ellipse">
            <a:avLst/>
          </a:prstGeom>
          <a:solidFill>
            <a:srgbClr val="5FA8D3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595360" y="4206240"/>
            <a:ext cx="1005840" cy="1005840"/>
          </a:xfrm>
          <a:prstGeom prst="ellipse">
            <a:avLst/>
          </a:prstGeom>
          <a:solidFill>
            <a:srgbClr val="FF6B4A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31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400" kern="0" dirty="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DEEPFER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9875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Facial Emotion Recognition Using Deep Learning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41605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across three vision backbones, benchmarked on FER2013 and deployed as a live web app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" y="5029200"/>
            <a:ext cx="1463040" cy="0"/>
          </a:xfrm>
          <a:prstGeom prst="line">
            <a:avLst/>
          </a:prstGeom>
          <a:noFill/>
          <a:ln w="38100">
            <a:solidFill>
              <a:srgbClr val="FF6B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2120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Harini S</a:t>
            </a:r>
            <a:pPr indent="0" marL="0">
              <a:buNone/>
            </a:pPr>
            <a:r>
              <a:rPr lang="en-US" sz="1300" dirty="0">
                <a:solidFill>
                  <a:srgbClr val="AA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Computer Vision &amp; Deep Learning   |   Dataset: FER2013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Facial Emotion Recognition — and why it's hard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expressions carry rich non-verbal signal that intelligent systems can use to respond more naturally — but recognizing them reliably from images is a genuinely difficult vision problem.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22C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743200"/>
            <a:ext cx="457200" cy="457200"/>
          </a:xfrm>
          <a:prstGeom prst="ellipse">
            <a:avLst/>
          </a:prstGeom>
          <a:solidFill>
            <a:srgbClr val="1C3F6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3337560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intra-class variability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3794760"/>
            <a:ext cx="22037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emotion looks different across people, poses, and lighting.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10712" y="251460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22C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39312" y="2743200"/>
            <a:ext cx="457200" cy="457200"/>
          </a:xfrm>
          <a:prstGeom prst="ellipse">
            <a:avLst/>
          </a:prstGeom>
          <a:solidFill>
            <a:srgbClr val="1C3F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39312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11880" y="3337560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inter-class separation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11880" y="3794760"/>
            <a:ext cx="22037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Visually similar pairs like Fear vs. Surprise, Sad vs. Neutral are easy to confuse.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72784" y="251460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22C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01384" y="2743200"/>
            <a:ext cx="457200" cy="457200"/>
          </a:xfrm>
          <a:prstGeom prst="ellipse">
            <a:avLst/>
          </a:prstGeom>
          <a:solidFill>
            <a:srgbClr val="1C3F60"/>
          </a:solidFill>
          <a:ln/>
        </p:spPr>
      </p:sp>
      <p:sp>
        <p:nvSpPr>
          <p:cNvPr id="17" name="Text 15"/>
          <p:cNvSpPr/>
          <p:nvPr/>
        </p:nvSpPr>
        <p:spPr>
          <a:xfrm>
            <a:off x="6501384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73952" y="3337560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Noisy, low-resolution labels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73952" y="3794760"/>
            <a:ext cx="22037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FER2013's 48×48 grayscale images include known label noise.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134856" y="251460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22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363456" y="2743200"/>
            <a:ext cx="457200" cy="457200"/>
          </a:xfrm>
          <a:prstGeom prst="ellipse">
            <a:avLst/>
          </a:prstGeom>
          <a:solidFill>
            <a:srgbClr val="1C3F60"/>
          </a:solidFill>
          <a:ln/>
        </p:spPr>
      </p:sp>
      <p:sp>
        <p:nvSpPr>
          <p:cNvPr id="22" name="Text 20"/>
          <p:cNvSpPr/>
          <p:nvPr/>
        </p:nvSpPr>
        <p:spPr>
          <a:xfrm>
            <a:off x="9363456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36024" y="3337560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36024" y="3794760"/>
            <a:ext cx="22037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dominates the dataset while Disgust is comparatively rare.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32A46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48920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68680" y="5230368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DeepFER — classify facial images into 7 emotions (Angry, Disgust, Fear, Happy, Neutral, Sad, Surprise) using transfer learning across three modern architectures, compared fairly under one training protocol, then deploy the best model.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1–2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FER2013 Dataset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3F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classes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91840" y="16916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3F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48×48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91840" y="2377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resolution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35040" y="16916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3F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/ Test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035040" y="2377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ImageFolder structure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11064240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063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classes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1C3F6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747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965960" y="347472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5FA8D3"/>
          </a:solidFill>
          <a:ln/>
        </p:spPr>
      </p:sp>
      <p:sp>
        <p:nvSpPr>
          <p:cNvPr id="15" name="Text 13"/>
          <p:cNvSpPr/>
          <p:nvPr/>
        </p:nvSpPr>
        <p:spPr>
          <a:xfrm>
            <a:off x="1965960" y="34747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Disgust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83280" y="347472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1C3F60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34747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00600" y="347472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5FA8D3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34747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1C3F6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97764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965960" y="397764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5FA8D3"/>
          </a:solidFill>
          <a:ln/>
        </p:spPr>
      </p:sp>
      <p:sp>
        <p:nvSpPr>
          <p:cNvPr id="23" name="Text 21"/>
          <p:cNvSpPr/>
          <p:nvPr/>
        </p:nvSpPr>
        <p:spPr>
          <a:xfrm>
            <a:off x="1965960" y="397764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83280" y="397764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1C3F60"/>
          </a:solidFill>
          <a:ln/>
        </p:spPr>
      </p:sp>
      <p:sp>
        <p:nvSpPr>
          <p:cNvPr id="25" name="Text 23"/>
          <p:cNvSpPr/>
          <p:nvPr/>
        </p:nvSpPr>
        <p:spPr>
          <a:xfrm>
            <a:off x="3383280" y="397764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309360" y="3063240"/>
            <a:ext cx="530352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32461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checks performed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37960" y="3703320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2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 / unreadable image detection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2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image hashing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2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Per-image brightness, contrast &amp; edge-intensity extraction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2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 verified across train/test splits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was found to be clean (no corrupt files) but imbalanced across classes — directly motivating the augmentation and weighted-sampling strategy used later.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3–5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 &amp; Hypothesis Testing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84048" cy="38404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627632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confirmed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0" y="1627632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&amp; Neutral dominate; Disgust &amp; Fear are under-represented — motivates macro-F1 and weighted sampling.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384048" cy="38404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43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2679192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 &amp; contrast vary widely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0" y="2679192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illumination spread across images justifies normalization in preprocessing.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384048" cy="38404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794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3730752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intensity differs by emotion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0" y="3730752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Expressive emotions (e.g. Surprise) show higher edge intensity — a useful sanity check.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384048" cy="38404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846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4782312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shows partial separability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0" y="4782312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 2D linear projection of image statistics shows some class structure, supporting a learned non-linear model.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80644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1C3F6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8064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hypothesis tests run: Welch’s t-test (brightness, Happy vs Sad) · One-way ANOVA (edge intensity across classes) · Pearson correlation (brightness vs contrast)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&amp;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&amp; Augmentation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63500" dist="25400" dir="5400000">
              <a:srgbClr val="1B222C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3042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26974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310896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48×48 → 224×224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14600" y="2194560"/>
            <a:ext cx="25603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70632" y="219456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63500" dist="25400" dir="5400000">
              <a:srgbClr val="1B222C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07792" y="23042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07792" y="26974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Expand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07792" y="310896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→ 3-channel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36592" y="2194560"/>
            <a:ext cx="25603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992624" y="219456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63500" dist="25400" dir="5400000">
              <a:srgbClr val="1B222C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29784" y="23042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29784" y="26974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29784" y="310896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Flip, rotate ±15°, affine, color jitter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958584" y="2194560"/>
            <a:ext cx="25603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214616" y="219456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63500" dist="25400" dir="5400000">
              <a:srgbClr val="1B222C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51776" y="23042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51776" y="26974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51776" y="310896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mean / std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80576" y="2194560"/>
            <a:ext cx="25603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436608" y="219456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132A46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63500" dist="25400" dir="5400000">
              <a:srgbClr val="1B222C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573768" y="23042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573768" y="26974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&amp; Balance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573768" y="310896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train–val + weighted sampler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41605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 classical missing-value or outlier handling?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48640" y="4526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no missing tabular values here — “missing data” meant corrupted/unreadable images, handled by the integrity check in EDA. Likewise, brightness/pose variation is treated as real signal, not statistical outliers, so no Z-score/IQR filtering was applied.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52578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handling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48640" y="56235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PyTorch's WeightedRandomSampler oversamples minority classes (e.g. Disgust, Fear) during training — without altering the underlying dataset — so the model sees a more balanced class distribution each epoch.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&amp;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Transfer-Learning Architectures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backbones are ImageNet-pretrained, then fine-tuned on FER2013 with a custom 7-class classification head — keeping the comparison fair via a shared training protocol.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52044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22C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624328"/>
            <a:ext cx="457200" cy="45720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624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2004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ConvNeXt-Tiny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36576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Convolutional Network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4114800"/>
            <a:ext cx="3063240" cy="0"/>
          </a:xfrm>
          <a:prstGeom prst="line">
            <a:avLst/>
          </a:prstGeom>
          <a:noFill/>
          <a:ln w="12700">
            <a:solidFill>
              <a:srgbClr val="E9ED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29768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Large-kernel depthwise convolutions, LayerNorm &amp; inverted-bottleneck blocks inspired by Transformers. Final stage fine-tuned.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25112" y="2331720"/>
            <a:ext cx="352044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22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53712" y="2624328"/>
            <a:ext cx="457200" cy="457200"/>
          </a:xfrm>
          <a:prstGeom prst="ellipse">
            <a:avLst/>
          </a:prstGeom>
          <a:solidFill>
            <a:srgbClr val="1C3F60"/>
          </a:solidFill>
          <a:ln/>
        </p:spPr>
      </p:sp>
      <p:sp>
        <p:nvSpPr>
          <p:cNvPr id="14" name="Text 12"/>
          <p:cNvSpPr/>
          <p:nvPr/>
        </p:nvSpPr>
        <p:spPr>
          <a:xfrm>
            <a:off x="4553712" y="2624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53712" y="32004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ResNet18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53712" y="36576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Convolutional Network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53712" y="4114800"/>
            <a:ext cx="3063240" cy="0"/>
          </a:xfrm>
          <a:prstGeom prst="line">
            <a:avLst/>
          </a:prstGeom>
          <a:noFill/>
          <a:ln w="12700">
            <a:solidFill>
              <a:srgbClr val="E9ED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53712" y="429768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connections mitigate vanishing gradients. Final residual block (Layer4) + classifier fine-tuned.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01584" y="2331720"/>
            <a:ext cx="352044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22C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30184" y="2624328"/>
            <a:ext cx="457200" cy="457200"/>
          </a:xfrm>
          <a:prstGeom prst="ellipse">
            <a:avLst/>
          </a:prstGeom>
          <a:solidFill>
            <a:srgbClr val="5FA8D3"/>
          </a:solidFill>
          <a:ln/>
        </p:spPr>
      </p:sp>
      <p:sp>
        <p:nvSpPr>
          <p:cNvPr id="21" name="Text 19"/>
          <p:cNvSpPr/>
          <p:nvPr/>
        </p:nvSpPr>
        <p:spPr>
          <a:xfrm>
            <a:off x="8330184" y="2624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30184" y="32004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Swin V2 Tiny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330184" y="36576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Vision Transformer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330184" y="4114800"/>
            <a:ext cx="3063240" cy="0"/>
          </a:xfrm>
          <a:prstGeom prst="line">
            <a:avLst/>
          </a:prstGeom>
          <a:noFill/>
          <a:ln w="12700">
            <a:solidFill>
              <a:srgbClr val="E9ED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30184" y="429768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Shifted-window self-attention with patch merging for hierarchical feature extraction.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2A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6–7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Training Configuration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hyperparameter tuning — identical protocol across all three models for a fair comparison.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C3F6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4688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95351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55848" y="233172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C3F60"/>
          </a:solidFill>
          <a:ln/>
        </p:spPr>
      </p:sp>
      <p:sp>
        <p:nvSpPr>
          <p:cNvPr id="9" name="Text 7"/>
          <p:cNvSpPr/>
          <p:nvPr/>
        </p:nvSpPr>
        <p:spPr>
          <a:xfrm>
            <a:off x="3538728" y="24688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5e-5 → 1e-6 (plateau)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38728" y="295351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63056" y="233172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C3F60"/>
          </a:solidFill>
          <a:ln/>
        </p:spPr>
      </p:sp>
      <p:sp>
        <p:nvSpPr>
          <p:cNvPr id="12" name="Text 10"/>
          <p:cNvSpPr/>
          <p:nvPr/>
        </p:nvSpPr>
        <p:spPr>
          <a:xfrm>
            <a:off x="6345936" y="24688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45936" y="295351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970264" y="233172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C3F60"/>
          </a:solidFill>
          <a:ln/>
        </p:spPr>
      </p:sp>
      <p:sp>
        <p:nvSpPr>
          <p:cNvPr id="15" name="Text 13"/>
          <p:cNvSpPr/>
          <p:nvPr/>
        </p:nvSpPr>
        <p:spPr>
          <a:xfrm>
            <a:off x="9153144" y="24688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53144" y="295351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epochs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584448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C3F6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72160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CrossEntropy + label smoothing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42062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55848" y="3584448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C3F60"/>
          </a:solidFill>
          <a:ln/>
        </p:spPr>
      </p:sp>
      <p:sp>
        <p:nvSpPr>
          <p:cNvPr id="21" name="Text 19"/>
          <p:cNvSpPr/>
          <p:nvPr/>
        </p:nvSpPr>
        <p:spPr>
          <a:xfrm>
            <a:off x="3538728" y="372160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ReduceLROnPlateau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538728" y="42062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63056" y="3584448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C3F60"/>
          </a:solidFill>
          <a:ln/>
        </p:spPr>
      </p:sp>
      <p:sp>
        <p:nvSpPr>
          <p:cNvPr id="24" name="Text 22"/>
          <p:cNvSpPr/>
          <p:nvPr/>
        </p:nvSpPr>
        <p:spPr>
          <a:xfrm>
            <a:off x="6345936" y="372160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norm 1.0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45936" y="42062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clipping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970264" y="3584448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C3F60"/>
          </a:solidFill>
          <a:ln/>
        </p:spPr>
      </p:sp>
      <p:sp>
        <p:nvSpPr>
          <p:cNvPr id="27" name="Text 25"/>
          <p:cNvSpPr/>
          <p:nvPr/>
        </p:nvSpPr>
        <p:spPr>
          <a:xfrm>
            <a:off x="9153144" y="372160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 = 8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153144" y="42062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8–9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 — Test Set Results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2834640"/>
        </p:xfrm>
        <a:graphic>
          <a:graphicData uri="http://schemas.openxmlformats.org/drawingml/2006/table">
            <a:tbl>
              <a:tblPr/>
              <a:tblGrid>
                <a:gridCol w="3108960"/>
                <a:gridCol w="2651760"/>
                <a:gridCol w="2651760"/>
                <a:gridCol w="26517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ConvNeXt-Tiny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Swin V2 Tiny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Accuracy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3F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66.06%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61.59%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64.92%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Precision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3F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0.6656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0.5942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Recall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3F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0.6478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0.5746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0.6396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F1-Score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3F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0.6553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0.5942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0.6341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F1-Score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3F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0.6097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7548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ConvNeXt-Tiny led on every metric — highest accuracy, macro-F1, and weighted-F1 — making it the clear choice for deployment.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53492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534924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confusion occurs between visually similar pairs — Fear vs. Surprise and Sad vs. Neutral — consistent with the overlapping brightness/contrast/edge-intensity distributions seen in EDA, and with FER2013's known label ambiguity.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A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Model: ConvNeXt-Tiny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66.06%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91840" y="18288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65.80%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291840" y="2606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Val. Accuracy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35040" y="18288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0.6553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035040" y="2606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F1-Score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778240" y="18288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0.6618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8778240" y="2606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F1-Score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11064240" cy="0"/>
          </a:xfrm>
          <a:prstGeom prst="line">
            <a:avLst/>
          </a:prstGeom>
          <a:noFill/>
          <a:ln w="12700">
            <a:solidFill>
              <a:srgbClr val="2C4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474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ConvNeXt-Tiny won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388620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score on every evaluation metric, not just accuracy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conv design (large kernels, LayerNorm, inverted bottlenecks) transfers well to facial structure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CNN inductive bias with Transformer-inspired training recipes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0" y="34747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pipeline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3886200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saved as best_convnext_tiny.pth; labels in class_mapping.json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Reloaded independently and sanity-checked on unseen images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1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correctness of the full inference pipeline end-to-end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&amp; Limitations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5349240" cy="548640"/>
          </a:xfrm>
          <a:prstGeom prst="roundRect">
            <a:avLst>
              <a:gd name="adj" fmla="val 15000"/>
            </a:avLst>
          </a:prstGeom>
          <a:solidFill>
            <a:srgbClr val="0F7B6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57400"/>
            <a:ext cx="534924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91640"/>
            <a:ext cx="5349240" cy="548640"/>
          </a:xfrm>
          <a:prstGeom prst="roundRect">
            <a:avLst>
              <a:gd name="adj" fmla="val 15000"/>
            </a:avLst>
          </a:prstGeom>
          <a:solidFill>
            <a:srgbClr val="0F7B6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916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42316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accuracy relative to classical ML baselines (66% on a hard 7-class problem)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feature extraction — no handcrafted edge/texture descriptors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hierarchical patterns, from edges to expression semantics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across backbones — all three exceeded 60% accuracy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and adaptable to larger datasets or new backbones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1691640"/>
            <a:ext cx="534924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691640"/>
            <a:ext cx="5349240" cy="548640"/>
          </a:xfrm>
          <a:prstGeom prst="roundRect">
            <a:avLst>
              <a:gd name="adj" fmla="val 15000"/>
            </a:avLst>
          </a:prstGeom>
          <a:solidFill>
            <a:srgbClr val="FF6B4A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16916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242316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FER2013 is modest in size and has known label noise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three backbones is computationally expensive (GPU required)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extreme lighting outside the training distribution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Struggles with partial occlusion of facial regions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explainability tooling (Grad-CAM / SHAP) applied yet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A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84048" cy="384048"/>
          </a:xfrm>
          <a:prstGeom prst="ellipse">
            <a:avLst/>
          </a:prstGeom>
          <a:solidFill>
            <a:srgbClr val="1C3F60"/>
          </a:solidFill>
          <a:ln w="12700">
            <a:solidFill>
              <a:srgbClr val="3A5A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75564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transfer-learning architectures were trained and evaluated under one fair protocol on FER2013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70048"/>
            <a:ext cx="384048" cy="384048"/>
          </a:xfrm>
          <a:prstGeom prst="ellipse">
            <a:avLst/>
          </a:prstGeom>
          <a:solidFill>
            <a:srgbClr val="FF6B4A"/>
          </a:solidFill>
          <a:ln w="12700">
            <a:solidFill>
              <a:srgbClr val="3A5A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700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596896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ConvNeXt-Tiny outperformed ResNet18 and Swin V2 Tiny on every metric — 66.06% test accuracy, 0.6618 weighted F1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511296"/>
            <a:ext cx="384048" cy="384048"/>
          </a:xfrm>
          <a:prstGeom prst="ellipse">
            <a:avLst/>
          </a:prstGeom>
          <a:solidFill>
            <a:srgbClr val="1C3F60"/>
          </a:solidFill>
          <a:ln w="12700">
            <a:solidFill>
              <a:srgbClr val="3A5A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5112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438144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and hypothesis testing confirmed class imbalance and meaningful (if modest) image-statistic variation across emotions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352544"/>
            <a:ext cx="384048" cy="384048"/>
          </a:xfrm>
          <a:prstGeom prst="ellipse">
            <a:avLst/>
          </a:prstGeom>
          <a:solidFill>
            <a:srgbClr val="1C3F60"/>
          </a:solidFill>
          <a:ln w="12700">
            <a:solidFill>
              <a:srgbClr val="3A5A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3525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427939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saved model was reloaded and validated on unseen images, confirming a deployment-ready end-to-end pipeline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193792"/>
            <a:ext cx="384048" cy="384048"/>
          </a:xfrm>
          <a:prstGeom prst="ellipse">
            <a:avLst/>
          </a:prstGeom>
          <a:solidFill>
            <a:srgbClr val="1C3F60"/>
          </a:solidFill>
          <a:ln w="12700">
            <a:solidFill>
              <a:srgbClr val="3A5A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193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51206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Grad-CAM/SHAP explainability, edge-optimized deployment, and real-time video inference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NOTEBOOK TO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DeepFER Web App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49224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22C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202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60350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the trained ConvNeXt-Tiny model in a lightweight Streamlit interface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upload or capture a facial image directly in the browser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preprocessing pipeline from the notebook (resize, channel-expand, normalize) runs behind the scenes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predicted emotion out of the 7 FER2013 classes, instantly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the notebook's best model usable by anyone — no code or GPU required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0" y="1691640"/>
            <a:ext cx="4297680" cy="4206240"/>
          </a:xfrm>
          <a:prstGeom prst="roundRect">
            <a:avLst>
              <a:gd name="adj" fmla="val 1957"/>
            </a:avLst>
          </a:prstGeom>
          <a:solidFill>
            <a:srgbClr val="132A4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0" y="210312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589520" y="28803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live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589520" y="33375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deepfer-facial-emotion-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recognition-app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.streamlit.app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863840" y="4434840"/>
            <a:ext cx="3200400" cy="502920"/>
          </a:xfrm>
          <a:prstGeom prst="roundRect">
            <a:avLst>
              <a:gd name="adj" fmla="val 50909"/>
            </a:avLst>
          </a:prstGeom>
          <a:solidFill>
            <a:srgbClr val="FF6B4A"/>
          </a:solidFill>
          <a:ln/>
        </p:spPr>
      </p:sp>
      <p:sp>
        <p:nvSpPr>
          <p:cNvPr id="12" name="Text 10">
            <a:hlinkClick r:id="rId1" tooltip=""/>
          </p:cNvPr>
          <p:cNvSpPr/>
          <p:nvPr/>
        </p:nvSpPr>
        <p:spPr>
          <a:xfrm>
            <a:off x="7863840" y="44348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in Streamlit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589520" y="51206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free on Streamlit Community Cloud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2026-08-06T08:40:55Z</dcterms:created>
  <dcterms:modified xsi:type="dcterms:W3CDTF">2026-08-06T08:40:55Z</dcterms:modified>
</cp:coreProperties>
</file>